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780" autoAdjust="0"/>
  </p:normalViewPr>
  <p:slideViewPr>
    <p:cSldViewPr snapToGrid="0" snapToObjects="1">
      <p:cViewPr>
        <p:scale>
          <a:sx n="110" d="100"/>
          <a:sy n="110" d="100"/>
        </p:scale>
        <p:origin x="78" y="-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rthankar Barari (TR)" userId="e41d4ef3-c9c5-4f08-a494-4c3cb9d953aa" providerId="ADAL" clId="{FDA9B3D4-9EE2-49C8-BD6B-D26A18FAF216}"/>
    <pc:docChg chg="custSel modSld">
      <pc:chgData name="Tirthankar Barari (TR)" userId="e41d4ef3-c9c5-4f08-a494-4c3cb9d953aa" providerId="ADAL" clId="{FDA9B3D4-9EE2-49C8-BD6B-D26A18FAF216}" dt="2026-06-08T22:05:00.643" v="37" actId="26606"/>
      <pc:docMkLst>
        <pc:docMk/>
      </pc:docMkLst>
      <pc:sldChg chg="addSp delSp modSp mod setBg">
        <pc:chgData name="Tirthankar Barari (TR)" userId="e41d4ef3-c9c5-4f08-a494-4c3cb9d953aa" providerId="ADAL" clId="{FDA9B3D4-9EE2-49C8-BD6B-D26A18FAF216}" dt="2026-06-08T21:04:26.210" v="10" actId="26606"/>
        <pc:sldMkLst>
          <pc:docMk/>
          <pc:sldMk cId="0" sldId="256"/>
        </pc:sldMkLst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6"/>
            <ac:spMk id="2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0:21:21.835" v="3" actId="2660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02:21.111" v="2" actId="26606"/>
          <ac:spMkLst>
            <pc:docMk/>
            <pc:sldMk cId="0" sldId="256"/>
            <ac:spMk id="11" creationId="{00000000-0000-0000-0000-000000000000}"/>
          </ac:spMkLst>
        </pc:spChg>
        <pc:spChg chg="add del mod ord">
          <ac:chgData name="Tirthankar Barari (TR)" userId="e41d4ef3-c9c5-4f08-a494-4c3cb9d953aa" providerId="ADAL" clId="{FDA9B3D4-9EE2-49C8-BD6B-D26A18FAF216}" dt="2026-06-08T21:04:26.210" v="10" actId="26606"/>
          <ac:spMkLst>
            <pc:docMk/>
            <pc:sldMk cId="0" sldId="256"/>
            <ac:spMk id="12" creationId="{00000000-0000-0000-0000-000000000000}"/>
          </ac:spMkLst>
        </pc:spChg>
        <pc:spChg chg="del mod ord">
          <ac:chgData name="Tirthankar Barari (TR)" userId="e41d4ef3-c9c5-4f08-a494-4c3cb9d953aa" providerId="ADAL" clId="{FDA9B3D4-9EE2-49C8-BD6B-D26A18FAF216}" dt="2026-06-08T21:04:26.210" v="10" actId="26606"/>
          <ac:spMkLst>
            <pc:docMk/>
            <pc:sldMk cId="0" sldId="256"/>
            <ac:spMk id="13" creationId="{00000000-0000-0000-0000-000000000000}"/>
          </ac:spMkLst>
        </pc:spChg>
        <pc:spChg chg="del">
          <ac:chgData name="Tirthankar Barari (TR)" userId="e41d4ef3-c9c5-4f08-a494-4c3cb9d953aa" providerId="ADAL" clId="{FDA9B3D4-9EE2-49C8-BD6B-D26A18FAF216}" dt="2026-06-08T20:35:21.499" v="5" actId="26606"/>
          <ac:spMkLst>
            <pc:docMk/>
            <pc:sldMk cId="0" sldId="256"/>
            <ac:spMk id="14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35:21.499" v="5" actId="26606"/>
          <ac:spMkLst>
            <pc:docMk/>
            <pc:sldMk cId="0" sldId="256"/>
            <ac:spMk id="15" creationId="{00000000-0000-0000-0000-000000000000}"/>
          </ac:spMkLst>
        </pc:spChg>
      </pc:sldChg>
      <pc:sldChg chg="addSp delSp modSp mod setBg">
        <pc:chgData name="Tirthankar Barari (TR)" userId="e41d4ef3-c9c5-4f08-a494-4c3cb9d953aa" providerId="ADAL" clId="{FDA9B3D4-9EE2-49C8-BD6B-D26A18FAF216}" dt="2026-06-08T21:10:31.566" v="32" actId="26606"/>
        <pc:sldMkLst>
          <pc:docMk/>
          <pc:sldMk cId="0" sldId="257"/>
        </pc:sldMkLst>
        <pc:spChg chg="add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7"/>
            <ac:spMk id="2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7"/>
            <ac:spMk id="5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7"/>
            <ac:spMk id="6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7"/>
            <ac:spMk id="7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7"/>
            <ac:spMk id="8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1:06:14.710" v="16" actId="20577"/>
          <ac:spMkLst>
            <pc:docMk/>
            <pc:sldMk cId="0" sldId="257"/>
            <ac:spMk id="9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0:21:21.835" v="3" actId="26606"/>
          <ac:spMkLst>
            <pc:docMk/>
            <pc:sldMk cId="0" sldId="257"/>
            <ac:spMk id="10" creationId="{00000000-0000-0000-0000-000000000000}"/>
          </ac:spMkLst>
        </pc:spChg>
        <pc:spChg chg="add del mod ord">
          <ac:chgData name="Tirthankar Barari (TR)" userId="e41d4ef3-c9c5-4f08-a494-4c3cb9d953aa" providerId="ADAL" clId="{FDA9B3D4-9EE2-49C8-BD6B-D26A18FAF216}" dt="2026-06-08T21:10:31.566" v="32" actId="26606"/>
          <ac:spMkLst>
            <pc:docMk/>
            <pc:sldMk cId="0" sldId="257"/>
            <ac:spMk id="11" creationId="{00000000-0000-0000-0000-000000000000}"/>
          </ac:spMkLst>
        </pc:spChg>
        <pc:spChg chg="add del mod ord">
          <ac:chgData name="Tirthankar Barari (TR)" userId="e41d4ef3-c9c5-4f08-a494-4c3cb9d953aa" providerId="ADAL" clId="{FDA9B3D4-9EE2-49C8-BD6B-D26A18FAF216}" dt="2026-06-08T21:10:31.566" v="32" actId="26606"/>
          <ac:spMkLst>
            <pc:docMk/>
            <pc:sldMk cId="0" sldId="257"/>
            <ac:spMk id="12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35:21.499" v="5" actId="26606"/>
          <ac:spMkLst>
            <pc:docMk/>
            <pc:sldMk cId="0" sldId="257"/>
            <ac:spMk id="13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35:21.499" v="5" actId="26606"/>
          <ac:spMkLst>
            <pc:docMk/>
            <pc:sldMk cId="0" sldId="257"/>
            <ac:spMk id="14" creationId="{00000000-0000-0000-0000-000000000000}"/>
          </ac:spMkLst>
        </pc:spChg>
      </pc:sldChg>
      <pc:sldChg chg="addSp delSp modSp mod setBg">
        <pc:chgData name="Tirthankar Barari (TR)" userId="e41d4ef3-c9c5-4f08-a494-4c3cb9d953aa" providerId="ADAL" clId="{FDA9B3D4-9EE2-49C8-BD6B-D26A18FAF216}" dt="2026-06-08T22:05:00.643" v="37" actId="26606"/>
        <pc:sldMkLst>
          <pc:docMk/>
          <pc:sldMk cId="0" sldId="258"/>
        </pc:sldMkLst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8"/>
            <ac:spMk id="4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58"/>
            <ac:spMk id="7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8"/>
            <ac:spMk id="8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58"/>
            <ac:spMk id="10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58"/>
            <ac:spMk id="17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58"/>
            <ac:spMk id="24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58"/>
            <ac:spMk id="25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58"/>
            <ac:spMk id="27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02:21.111" v="2" actId="2660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58"/>
            <ac:spMk id="31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8"/>
            <ac:spMk id="32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58"/>
            <ac:spMk id="35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58"/>
            <ac:spMk id="37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58"/>
            <ac:spMk id="38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02:21.111" v="2" actId="26606"/>
          <ac:spMkLst>
            <pc:docMk/>
            <pc:sldMk cId="0" sldId="258"/>
            <ac:spMk id="42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58"/>
            <ac:spMk id="43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58"/>
            <ac:spMk id="44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58"/>
            <ac:spMk id="46" creationId="{00000000-0000-0000-0000-000000000000}"/>
          </ac:spMkLst>
        </pc:spChg>
        <pc:spChg chg="del">
          <ac:chgData name="Tirthankar Barari (TR)" userId="e41d4ef3-c9c5-4f08-a494-4c3cb9d953aa" providerId="ADAL" clId="{FDA9B3D4-9EE2-49C8-BD6B-D26A18FAF216}" dt="2026-06-08T20:21:21.835" v="3" actId="26606"/>
          <ac:spMkLst>
            <pc:docMk/>
            <pc:sldMk cId="0" sldId="258"/>
            <ac:spMk id="47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0:47:16.768" v="7" actId="26606"/>
          <ac:spMkLst>
            <pc:docMk/>
            <pc:sldMk cId="0" sldId="258"/>
            <ac:spMk id="48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0:47:16.768" v="7" actId="26606"/>
          <ac:spMkLst>
            <pc:docMk/>
            <pc:sldMk cId="0" sldId="258"/>
            <ac:spMk id="49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58"/>
            <ac:spMk id="51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58"/>
            <ac:spMk id="52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58"/>
            <ac:spMk id="53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58"/>
            <ac:spMk id="54" creationId="{00000000-0000-0000-0000-000000000000}"/>
          </ac:spMkLst>
        </pc:sp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58"/>
            <ac:picMk id="47" creationId="{00000000-0000-0000-0000-000000000000}"/>
          </ac:picMkLst>
        </pc:pic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58"/>
            <ac:picMk id="48" creationId="{00000000-0000-0000-0000-000000000000}"/>
          </ac:picMkLst>
        </pc:pic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58"/>
            <ac:picMk id="49" creationId="{00000000-0000-0000-0000-000000000000}"/>
          </ac:picMkLst>
        </pc:pic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58"/>
            <ac:picMk id="50" creationId="{00000000-0000-0000-0000-000000000000}"/>
          </ac:picMkLst>
        </pc:picChg>
      </pc:sldChg>
      <pc:sldChg chg="addSp delSp modSp mod setBg">
        <pc:chgData name="Tirthankar Barari (TR)" userId="e41d4ef3-c9c5-4f08-a494-4c3cb9d953aa" providerId="ADAL" clId="{FDA9B3D4-9EE2-49C8-BD6B-D26A18FAF216}" dt="2026-06-08T21:10:31.566" v="32" actId="26606"/>
        <pc:sldMkLst>
          <pc:docMk/>
          <pc:sldMk cId="0" sldId="259"/>
        </pc:sldMkLst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9"/>
            <ac:spMk id="2" creationId="{00000000-0000-0000-0000-000000000000}"/>
          </ac:spMkLst>
        </pc:spChg>
        <pc:spChg chg="ad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9"/>
            <ac:spMk id="5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9"/>
            <ac:spMk id="6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9"/>
            <ac:spMk id="7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59"/>
            <ac:spMk id="8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58:27.642" v="9" actId="26606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0:21:21.835" v="3" actId="26606"/>
          <ac:spMkLst>
            <pc:docMk/>
            <pc:sldMk cId="0" sldId="259"/>
            <ac:spMk id="10" creationId="{00000000-0000-0000-0000-000000000000}"/>
          </ac:spMkLst>
        </pc:spChg>
        <pc:spChg chg="add del mod ord">
          <ac:chgData name="Tirthankar Barari (TR)" userId="e41d4ef3-c9c5-4f08-a494-4c3cb9d953aa" providerId="ADAL" clId="{FDA9B3D4-9EE2-49C8-BD6B-D26A18FAF216}" dt="2026-06-08T21:10:31.566" v="32" actId="26606"/>
          <ac:spMkLst>
            <pc:docMk/>
            <pc:sldMk cId="0" sldId="259"/>
            <ac:spMk id="11" creationId="{00000000-0000-0000-0000-000000000000}"/>
          </ac:spMkLst>
        </pc:spChg>
        <pc:spChg chg="add del mod ord">
          <ac:chgData name="Tirthankar Barari (TR)" userId="e41d4ef3-c9c5-4f08-a494-4c3cb9d953aa" providerId="ADAL" clId="{FDA9B3D4-9EE2-49C8-BD6B-D26A18FAF216}" dt="2026-06-08T21:04:26.210" v="10" actId="26606"/>
          <ac:spMkLst>
            <pc:docMk/>
            <pc:sldMk cId="0" sldId="259"/>
            <ac:spMk id="12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35:21.499" v="5" actId="26606"/>
          <ac:spMkLst>
            <pc:docMk/>
            <pc:sldMk cId="0" sldId="259"/>
            <ac:spMk id="13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35:21.499" v="5" actId="26606"/>
          <ac:spMkLst>
            <pc:docMk/>
            <pc:sldMk cId="0" sldId="259"/>
            <ac:spMk id="14" creationId="{00000000-0000-0000-0000-000000000000}"/>
          </ac:spMkLst>
        </pc:spChg>
      </pc:sldChg>
      <pc:sldChg chg="addSp delSp modSp mod setBg">
        <pc:chgData name="Tirthankar Barari (TR)" userId="e41d4ef3-c9c5-4f08-a494-4c3cb9d953aa" providerId="ADAL" clId="{FDA9B3D4-9EE2-49C8-BD6B-D26A18FAF216}" dt="2026-06-08T22:05:00.643" v="37" actId="26606"/>
        <pc:sldMkLst>
          <pc:docMk/>
          <pc:sldMk cId="0" sldId="260"/>
        </pc:sldMkLst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0"/>
            <ac:spMk id="2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0"/>
            <ac:spMk id="4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0"/>
            <ac:spMk id="5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60"/>
            <ac:spMk id="7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0"/>
            <ac:spMk id="8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02:21.111" v="2" actId="26606"/>
          <ac:spMkLst>
            <pc:docMk/>
            <pc:sldMk cId="0" sldId="260"/>
            <ac:spMk id="12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0"/>
            <ac:spMk id="13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0"/>
            <ac:spMk id="24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0"/>
            <ac:spMk id="25" creationId="{00000000-0000-0000-0000-000000000000}"/>
          </ac:spMkLst>
        </pc:spChg>
        <pc:spChg chg="ad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02:21.111" v="2" actId="26606"/>
          <ac:spMkLst>
            <pc:docMk/>
            <pc:sldMk cId="0" sldId="260"/>
            <ac:spMk id="32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60"/>
            <ac:spMk id="37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02:21.111" v="2" actId="26606"/>
          <ac:spMkLst>
            <pc:docMk/>
            <pc:sldMk cId="0" sldId="260"/>
            <ac:spMk id="39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0"/>
            <ac:spMk id="41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0"/>
            <ac:spMk id="42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0"/>
            <ac:spMk id="43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0"/>
            <ac:spMk id="44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0"/>
            <ac:spMk id="45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0"/>
            <ac:spMk id="46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47:16.768" v="7" actId="26606"/>
          <ac:spMkLst>
            <pc:docMk/>
            <pc:sldMk cId="0" sldId="260"/>
            <ac:spMk id="48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0:47:16.768" v="7" actId="26606"/>
          <ac:spMkLst>
            <pc:docMk/>
            <pc:sldMk cId="0" sldId="260"/>
            <ac:spMk id="49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60"/>
            <ac:spMk id="51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60"/>
            <ac:spMk id="52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60"/>
            <ac:spMk id="53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60"/>
            <ac:spMk id="54" creationId="{00000000-0000-0000-0000-000000000000}"/>
          </ac:spMkLst>
        </pc:sp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60"/>
            <ac:picMk id="47" creationId="{00000000-0000-0000-0000-000000000000}"/>
          </ac:picMkLst>
        </pc:pic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60"/>
            <ac:picMk id="48" creationId="{00000000-0000-0000-0000-000000000000}"/>
          </ac:picMkLst>
        </pc:pic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60"/>
            <ac:picMk id="49" creationId="{00000000-0000-0000-0000-000000000000}"/>
          </ac:picMkLst>
        </pc:pic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60"/>
            <ac:picMk id="50" creationId="{00000000-0000-0000-0000-000000000000}"/>
          </ac:picMkLst>
        </pc:picChg>
      </pc:sldChg>
      <pc:sldChg chg="addSp delSp modSp mod setBg">
        <pc:chgData name="Tirthankar Barari (TR)" userId="e41d4ef3-c9c5-4f08-a494-4c3cb9d953aa" providerId="ADAL" clId="{FDA9B3D4-9EE2-49C8-BD6B-D26A18FAF216}" dt="2026-06-08T21:10:31.566" v="32" actId="26606"/>
        <pc:sldMkLst>
          <pc:docMk/>
          <pc:sldMk cId="0" sldId="261"/>
        </pc:sldMkLst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1"/>
            <ac:spMk id="2" creationId="{00000000-0000-0000-0000-000000000000}"/>
          </ac:spMkLst>
        </pc:spChg>
        <pc:spChg chg="ad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1"/>
            <ac:spMk id="4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1"/>
            <ac:spMk id="5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1"/>
            <ac:spMk id="6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1"/>
            <ac:spMk id="7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1"/>
            <ac:spMk id="8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1:06:54.114" v="24" actId="20577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0:21:21.835" v="3" actId="26606"/>
          <ac:spMkLst>
            <pc:docMk/>
            <pc:sldMk cId="0" sldId="261"/>
            <ac:spMk id="10" creationId="{00000000-0000-0000-0000-000000000000}"/>
          </ac:spMkLst>
        </pc:spChg>
        <pc:spChg chg="add del mod ord">
          <ac:chgData name="Tirthankar Barari (TR)" userId="e41d4ef3-c9c5-4f08-a494-4c3cb9d953aa" providerId="ADAL" clId="{FDA9B3D4-9EE2-49C8-BD6B-D26A18FAF216}" dt="2026-06-08T21:10:31.566" v="32" actId="26606"/>
          <ac:spMkLst>
            <pc:docMk/>
            <pc:sldMk cId="0" sldId="261"/>
            <ac:spMk id="11" creationId="{00000000-0000-0000-0000-000000000000}"/>
          </ac:spMkLst>
        </pc:spChg>
        <pc:spChg chg="add del mod ord">
          <ac:chgData name="Tirthankar Barari (TR)" userId="e41d4ef3-c9c5-4f08-a494-4c3cb9d953aa" providerId="ADAL" clId="{FDA9B3D4-9EE2-49C8-BD6B-D26A18FAF216}" dt="2026-06-08T21:10:31.566" v="32" actId="26606"/>
          <ac:spMkLst>
            <pc:docMk/>
            <pc:sldMk cId="0" sldId="261"/>
            <ac:spMk id="12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35:21.499" v="5" actId="26606"/>
          <ac:spMkLst>
            <pc:docMk/>
            <pc:sldMk cId="0" sldId="261"/>
            <ac:spMk id="13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35:21.499" v="5" actId="26606"/>
          <ac:spMkLst>
            <pc:docMk/>
            <pc:sldMk cId="0" sldId="261"/>
            <ac:spMk id="14" creationId="{00000000-0000-0000-0000-000000000000}"/>
          </ac:spMkLst>
        </pc:spChg>
      </pc:sldChg>
      <pc:sldChg chg="addSp delSp modSp mod setBg">
        <pc:chgData name="Tirthankar Barari (TR)" userId="e41d4ef3-c9c5-4f08-a494-4c3cb9d953aa" providerId="ADAL" clId="{FDA9B3D4-9EE2-49C8-BD6B-D26A18FAF216}" dt="2026-06-08T22:05:00.643" v="37" actId="26606"/>
        <pc:sldMkLst>
          <pc:docMk/>
          <pc:sldMk cId="0" sldId="262"/>
        </pc:sldMkLst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2"/>
            <ac:spMk id="5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62"/>
            <ac:spMk id="7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2"/>
            <ac:spMk id="8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02:21.111" v="2" actId="2660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2"/>
            <ac:spMk id="13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02:21.111" v="2" actId="2660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02:21.111" v="2" actId="2660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62"/>
            <ac:spMk id="17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2"/>
            <ac:spMk id="20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2"/>
            <ac:spMk id="25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62"/>
            <ac:spMk id="27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2"/>
            <ac:spMk id="28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02:21.111" v="2" actId="26606"/>
          <ac:spMkLst>
            <pc:docMk/>
            <pc:sldMk cId="0" sldId="262"/>
            <ac:spMk id="29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2"/>
            <ac:spMk id="30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2"/>
            <ac:spMk id="31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2"/>
            <ac:spMk id="32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2"/>
            <ac:spMk id="33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62"/>
            <ac:spMk id="37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2"/>
            <ac:spMk id="39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02:21.111" v="2" actId="26606"/>
          <ac:spMkLst>
            <pc:docMk/>
            <pc:sldMk cId="0" sldId="262"/>
            <ac:spMk id="41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2"/>
            <ac:spMk id="42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2"/>
            <ac:spMk id="43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2"/>
            <ac:spMk id="44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2"/>
            <ac:spMk id="45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2"/>
            <ac:spMk id="46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0:47:16.768" v="7" actId="26606"/>
          <ac:spMkLst>
            <pc:docMk/>
            <pc:sldMk cId="0" sldId="262"/>
            <ac:spMk id="48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0:47:16.768" v="7" actId="26606"/>
          <ac:spMkLst>
            <pc:docMk/>
            <pc:sldMk cId="0" sldId="262"/>
            <ac:spMk id="49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62"/>
            <ac:spMk id="51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62"/>
            <ac:spMk id="52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62"/>
            <ac:spMk id="53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62"/>
            <ac:spMk id="54" creationId="{00000000-0000-0000-0000-000000000000}"/>
          </ac:spMkLst>
        </pc:sp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62"/>
            <ac:picMk id="47" creationId="{00000000-0000-0000-0000-000000000000}"/>
          </ac:picMkLst>
        </pc:pic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62"/>
            <ac:picMk id="48" creationId="{00000000-0000-0000-0000-000000000000}"/>
          </ac:picMkLst>
        </pc:pic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62"/>
            <ac:picMk id="49" creationId="{00000000-0000-0000-0000-000000000000}"/>
          </ac:picMkLst>
        </pc:pic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62"/>
            <ac:picMk id="50" creationId="{00000000-0000-0000-0000-000000000000}"/>
          </ac:picMkLst>
        </pc:picChg>
      </pc:sldChg>
      <pc:sldChg chg="addSp delSp modSp mod setBg">
        <pc:chgData name="Tirthankar Barari (TR)" userId="e41d4ef3-c9c5-4f08-a494-4c3cb9d953aa" providerId="ADAL" clId="{FDA9B3D4-9EE2-49C8-BD6B-D26A18FAF216}" dt="2026-06-08T21:10:31.566" v="32" actId="26606"/>
        <pc:sldMkLst>
          <pc:docMk/>
          <pc:sldMk cId="0" sldId="263"/>
        </pc:sldMkLst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3"/>
            <ac:spMk id="2" creationId="{00000000-0000-0000-0000-000000000000}"/>
          </ac:spMkLst>
        </pc:spChg>
        <pc:spChg chg="ad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3"/>
            <ac:spMk id="3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3"/>
            <ac:spMk id="4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3"/>
            <ac:spMk id="5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3"/>
            <ac:spMk id="6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3"/>
            <ac:spMk id="7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3"/>
            <ac:spMk id="8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1:07:11.109" v="30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02:21.111" v="2" actId="26606"/>
          <ac:spMkLst>
            <pc:docMk/>
            <pc:sldMk cId="0" sldId="263"/>
            <ac:spMk id="10" creationId="{00000000-0000-0000-0000-000000000000}"/>
          </ac:spMkLst>
        </pc:spChg>
        <pc:spChg chg="add del mod ord">
          <ac:chgData name="Tirthankar Barari (TR)" userId="e41d4ef3-c9c5-4f08-a494-4c3cb9d953aa" providerId="ADAL" clId="{FDA9B3D4-9EE2-49C8-BD6B-D26A18FAF216}" dt="2026-06-08T21:10:31.566" v="32" actId="26606"/>
          <ac:spMkLst>
            <pc:docMk/>
            <pc:sldMk cId="0" sldId="263"/>
            <ac:spMk id="11" creationId="{00000000-0000-0000-0000-000000000000}"/>
          </ac:spMkLst>
        </pc:spChg>
        <pc:spChg chg="add del mod ord">
          <ac:chgData name="Tirthankar Barari (TR)" userId="e41d4ef3-c9c5-4f08-a494-4c3cb9d953aa" providerId="ADAL" clId="{FDA9B3D4-9EE2-49C8-BD6B-D26A18FAF216}" dt="2026-06-08T21:10:31.566" v="32" actId="26606"/>
          <ac:spMkLst>
            <pc:docMk/>
            <pc:sldMk cId="0" sldId="263"/>
            <ac:spMk id="12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35:21.499" v="5" actId="26606"/>
          <ac:spMkLst>
            <pc:docMk/>
            <pc:sldMk cId="0" sldId="263"/>
            <ac:spMk id="13" creationId="{00000000-0000-0000-0000-000000000000}"/>
          </ac:spMkLst>
        </pc:spChg>
        <pc:spChg chg="add del">
          <ac:chgData name="Tirthankar Barari (TR)" userId="e41d4ef3-c9c5-4f08-a494-4c3cb9d953aa" providerId="ADAL" clId="{FDA9B3D4-9EE2-49C8-BD6B-D26A18FAF216}" dt="2026-06-08T20:35:21.499" v="5" actId="26606"/>
          <ac:spMkLst>
            <pc:docMk/>
            <pc:sldMk cId="0" sldId="263"/>
            <ac:spMk id="14" creationId="{00000000-0000-0000-0000-000000000000}"/>
          </ac:spMkLst>
        </pc:spChg>
      </pc:sldChg>
      <pc:sldChg chg="addSp delSp modSp mod setBg">
        <pc:chgData name="Tirthankar Barari (TR)" userId="e41d4ef3-c9c5-4f08-a494-4c3cb9d953aa" providerId="ADAL" clId="{FDA9B3D4-9EE2-49C8-BD6B-D26A18FAF216}" dt="2026-06-08T22:05:00.643" v="37" actId="26606"/>
        <pc:sldMkLst>
          <pc:docMk/>
          <pc:sldMk cId="0" sldId="264"/>
        </pc:sldMkLst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4"/>
            <ac:spMk id="5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64"/>
            <ac:spMk id="7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4"/>
            <ac:spMk id="11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4"/>
            <ac:spMk id="12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64"/>
            <ac:spMk id="17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4"/>
            <ac:spMk id="18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4"/>
            <ac:spMk id="19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4"/>
            <ac:spMk id="21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4"/>
            <ac:spMk id="23" creationId="{00000000-0000-0000-0000-000000000000}"/>
          </ac:spMkLst>
        </pc:spChg>
        <pc:spChg chg="del">
          <ac:chgData name="Tirthankar Barari (TR)" userId="e41d4ef3-c9c5-4f08-a494-4c3cb9d953aa" providerId="ADAL" clId="{FDA9B3D4-9EE2-49C8-BD6B-D26A18FAF216}" dt="2026-06-08T20:21:21.835" v="3" actId="26606"/>
          <ac:spMkLst>
            <pc:docMk/>
            <pc:sldMk cId="0" sldId="264"/>
            <ac:spMk id="25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64"/>
            <ac:spMk id="27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4"/>
            <ac:spMk id="28" creationId="{00000000-0000-0000-0000-000000000000}"/>
          </ac:spMkLst>
        </pc:spChg>
        <pc:spChg chg="del">
          <ac:chgData name="Tirthankar Barari (TR)" userId="e41d4ef3-c9c5-4f08-a494-4c3cb9d953aa" providerId="ADAL" clId="{FDA9B3D4-9EE2-49C8-BD6B-D26A18FAF216}" dt="2026-06-08T20:21:21.835" v="3" actId="26606"/>
          <ac:spMkLst>
            <pc:docMk/>
            <pc:sldMk cId="0" sldId="264"/>
            <ac:spMk id="29" creationId="{00000000-0000-0000-0000-000000000000}"/>
          </ac:spMkLst>
        </pc:spChg>
        <pc:spChg chg="del">
          <ac:chgData name="Tirthankar Barari (TR)" userId="e41d4ef3-c9c5-4f08-a494-4c3cb9d953aa" providerId="ADAL" clId="{FDA9B3D4-9EE2-49C8-BD6B-D26A18FAF216}" dt="2026-06-08T20:21:21.835" v="3" actId="2660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0:49:12.088" v="8" actId="26606"/>
          <ac:spMkLst>
            <pc:docMk/>
            <pc:sldMk cId="0" sldId="264"/>
            <ac:spMk id="31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0:27:47.019" v="4" actId="26606"/>
          <ac:spMkLst>
            <pc:docMk/>
            <pc:sldMk cId="0" sldId="264"/>
            <ac:spMk id="32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4"/>
            <ac:spMk id="33" creationId="{00000000-0000-0000-0000-000000000000}"/>
          </ac:spMkLst>
        </pc:spChg>
        <pc:spChg chg="del">
          <ac:chgData name="Tirthankar Barari (TR)" userId="e41d4ef3-c9c5-4f08-a494-4c3cb9d953aa" providerId="ADAL" clId="{FDA9B3D4-9EE2-49C8-BD6B-D26A18FAF216}" dt="2026-06-08T20:21:21.835" v="3" actId="26606"/>
          <ac:spMkLst>
            <pc:docMk/>
            <pc:sldMk cId="0" sldId="264"/>
            <ac:spMk id="34" creationId="{00000000-0000-0000-0000-000000000000}"/>
          </ac:spMkLst>
        </pc:spChg>
        <pc:spChg chg="del">
          <ac:chgData name="Tirthankar Barari (TR)" userId="e41d4ef3-c9c5-4f08-a494-4c3cb9d953aa" providerId="ADAL" clId="{FDA9B3D4-9EE2-49C8-BD6B-D26A18FAF216}" dt="2026-06-08T20:21:21.835" v="3" actId="26606"/>
          <ac:spMkLst>
            <pc:docMk/>
            <pc:sldMk cId="0" sldId="264"/>
            <ac:spMk id="36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49:42.680" v="35" actId="26606"/>
          <ac:spMkLst>
            <pc:docMk/>
            <pc:sldMk cId="0" sldId="264"/>
            <ac:spMk id="37" creationId="{00000000-0000-0000-0000-000000000000}"/>
          </ac:spMkLst>
        </pc:spChg>
        <pc:spChg chg="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4"/>
            <ac:spMk id="41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0:21:21.835" v="3" actId="26606"/>
          <ac:spMkLst>
            <pc:docMk/>
            <pc:sldMk cId="0" sldId="264"/>
            <ac:spMk id="42" creationId="{00000000-0000-0000-0000-000000000000}"/>
          </ac:spMkLst>
        </pc:spChg>
        <pc:spChg chg="del">
          <ac:chgData name="Tirthankar Barari (TR)" userId="e41d4ef3-c9c5-4f08-a494-4c3cb9d953aa" providerId="ADAL" clId="{FDA9B3D4-9EE2-49C8-BD6B-D26A18FAF216}" dt="2026-06-08T20:21:21.835" v="3" actId="26606"/>
          <ac:spMkLst>
            <pc:docMk/>
            <pc:sldMk cId="0" sldId="264"/>
            <ac:spMk id="44" creationId="{00000000-0000-0000-0000-000000000000}"/>
          </ac:spMkLst>
        </pc:spChg>
        <pc:spChg chg="add mod">
          <ac:chgData name="Tirthankar Barari (TR)" userId="e41d4ef3-c9c5-4f08-a494-4c3cb9d953aa" providerId="ADAL" clId="{FDA9B3D4-9EE2-49C8-BD6B-D26A18FAF216}" dt="2026-06-08T21:25:35.642" v="33" actId="26606"/>
          <ac:spMkLst>
            <pc:docMk/>
            <pc:sldMk cId="0" sldId="264"/>
            <ac:spMk id="45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0:39:10.818" v="6" actId="26606"/>
          <ac:spMkLst>
            <pc:docMk/>
            <pc:sldMk cId="0" sldId="264"/>
            <ac:spMk id="46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0:47:16.768" v="7" actId="26606"/>
          <ac:spMkLst>
            <pc:docMk/>
            <pc:sldMk cId="0" sldId="264"/>
            <ac:spMk id="48" creationId="{00000000-0000-0000-0000-000000000000}"/>
          </ac:spMkLst>
        </pc:spChg>
        <pc:spChg chg="del mod">
          <ac:chgData name="Tirthankar Barari (TR)" userId="e41d4ef3-c9c5-4f08-a494-4c3cb9d953aa" providerId="ADAL" clId="{FDA9B3D4-9EE2-49C8-BD6B-D26A18FAF216}" dt="2026-06-08T20:47:16.768" v="7" actId="26606"/>
          <ac:spMkLst>
            <pc:docMk/>
            <pc:sldMk cId="0" sldId="264"/>
            <ac:spMk id="49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64"/>
            <ac:spMk id="51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64"/>
            <ac:spMk id="52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64"/>
            <ac:spMk id="53" creationId="{00000000-0000-0000-0000-000000000000}"/>
          </ac:spMkLst>
        </pc:spChg>
        <pc:spChg chg="add del mod">
          <ac:chgData name="Tirthankar Barari (TR)" userId="e41d4ef3-c9c5-4f08-a494-4c3cb9d953aa" providerId="ADAL" clId="{FDA9B3D4-9EE2-49C8-BD6B-D26A18FAF216}" dt="2026-06-08T22:05:00.643" v="37" actId="26606"/>
          <ac:spMkLst>
            <pc:docMk/>
            <pc:sldMk cId="0" sldId="264"/>
            <ac:spMk id="54" creationId="{00000000-0000-0000-0000-000000000000}"/>
          </ac:spMkLst>
        </pc:sp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64"/>
            <ac:picMk id="47" creationId="{00000000-0000-0000-0000-000000000000}"/>
          </ac:picMkLst>
        </pc:pic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64"/>
            <ac:picMk id="48" creationId="{00000000-0000-0000-0000-000000000000}"/>
          </ac:picMkLst>
        </pc:pic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64"/>
            <ac:picMk id="49" creationId="{00000000-0000-0000-0000-000000000000}"/>
          </ac:picMkLst>
        </pc:picChg>
        <pc:picChg chg="mod">
          <ac:chgData name="Tirthankar Barari (TR)" userId="e41d4ef3-c9c5-4f08-a494-4c3cb9d953aa" providerId="ADAL" clId="{FDA9B3D4-9EE2-49C8-BD6B-D26A18FAF216}" dt="2026-06-08T22:05:00.643" v="37" actId="26606"/>
          <ac:picMkLst>
            <pc:docMk/>
            <pc:sldMk cId="0" sldId="264"/>
            <ac:picMk id="5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713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ii.org/fact-statistic/facts-statistics-auto-insuranc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ncei.noaa.gov/access/billions/" TargetMode="External"/><Relationship Id="rId4" Type="http://schemas.openxmlformats.org/officeDocument/2006/relationships/hyperlink" Target="https://bls.gov/news.release/cpi.nr0.ht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ii.org/fact-statistic/facts-statistics-industry-overvie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ii.org/fact-statistic/facts-statistics-industry-overview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cei.noaa.gov/access/billion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ii.org/fact-statistic/facts-statistics-industry-overview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cei.noaa.gov/access/billions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Extract-Insight-Action | Carrier Process Playbook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Grouped by carrier type: product scenario, stage-level challenges, and intervention points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89920" cy="4023360"/>
          </a:xfrm>
          <a:prstGeom prst="roundRect">
            <a:avLst>
              <a:gd name="adj" fmla="val 2273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8ECF0"/>
                </a:solidFill>
              </a:rPr>
              <a:t>Deck Structure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E8ECF0"/>
                </a:solidFill>
              </a:rPr>
              <a:t>1. Personal Lines Carrier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0"/>
                </a:solidFill>
              </a:rPr>
              <a:t>2. Commercial Lines Carrier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0"/>
                </a:solidFill>
              </a:rPr>
              <a:t>3. Specialty / E&amp;S Carrier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E8ECF0"/>
                </a:solidFill>
              </a:rPr>
              <a:t>4. Reinsurer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486400" y="18288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0" y="21031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ECF0"/>
                </a:solidFill>
              </a:rPr>
              <a:t>For each carrier section: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760720" y="23774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E8ECF0"/>
                </a:solidFill>
              </a:rPr>
              <a:t>- One high-challenge product/business scenario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ECF0"/>
                </a:solidFill>
              </a:rPr>
              <a:t>- Process flow with 4 business stages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ECF0"/>
                </a:solidFill>
              </a:rPr>
              <a:t>- Stage-specific challenge callout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ECF0"/>
                </a:solidFill>
              </a:rPr>
              <a:t>- Exact accelerator intervention at each stage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ECF0"/>
                </a:solidFill>
              </a:rPr>
              <a:t>- Outcome summary + source citations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Personal Lines Carrier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Personal Auto Claims During Catastrophe Surge | Challenge-first process transformation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00" cy="4100000"/>
          </a:xfrm>
          <a:prstGeom prst="roundRect">
            <a:avLst>
              <a:gd name="adj" fmla="val 2381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EC4B6"/>
                </a:solidFill>
              </a:rPr>
              <a:t>Selected Business Scenario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</a:rPr>
              <a:t>Personal Auto Claims During Catastrophe Surge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76F51"/>
                </a:solidFill>
              </a:rPr>
              <a:t>Why this scenario has high urgency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High claim volume, customer response pressure, and rising loss costs make intake-to-settlement speed critical.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-228600"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Auto liability claim severity up 54 points cumulative since 2019</a:t>
            </a:r>
            <a:r>
              <a:rPr lang="en-US" sz="1200" dirty="0">
                <a:solidFill>
                  <a:srgbClr val="2EC4B6"/>
                </a:solidFill>
              </a:rPr>
              <a:t> — Triple-I</a:t>
            </a:r>
            <a:r>
              <a:rPr lang="en-US" sz="1200" baseline="30000" dirty="0">
                <a:solidFill>
                  <a:srgbClr val="2EC4B6"/>
                </a:solidFill>
              </a:rPr>
              <a:t>[1]</a:t>
            </a:r>
          </a:p>
          <a:p>
            <a:pPr marL="228600" indent="-228600"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Repair and maintenance costs rose 37.6% since 2019; auto insurance CPI up 17.8% YoY</a:t>
            </a:r>
            <a:r>
              <a:rPr lang="en-US" sz="1200" dirty="0">
                <a:solidFill>
                  <a:srgbClr val="2EC4B6"/>
                </a:solidFill>
              </a:rPr>
              <a:t> — BLS</a:t>
            </a:r>
            <a:r>
              <a:rPr lang="en-US" sz="1200" baseline="30000" dirty="0">
                <a:solidFill>
                  <a:srgbClr val="2EC4B6"/>
                </a:solidFill>
              </a:rPr>
              <a:t>[2]</a:t>
            </a:r>
          </a:p>
          <a:p>
            <a:pPr marL="228600" indent="-228600"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27 billion-dollar disasters in 2024 totaling $182.7B in damages</a:t>
            </a:r>
            <a:r>
              <a:rPr lang="en-US" sz="1200" dirty="0">
                <a:solidFill>
                  <a:srgbClr val="2EC4B6"/>
                </a:solidFill>
              </a:rPr>
              <a:t> — NOAA</a:t>
            </a:r>
            <a:r>
              <a:rPr lang="en-US" sz="1200" baseline="30000" dirty="0">
                <a:solidFill>
                  <a:srgbClr val="2EC4B6"/>
                </a:solidFill>
              </a:rPr>
              <a:t>[3]</a:t>
            </a:r>
          </a:p>
        </p:txBody>
      </p:sp>
      <p:sp>
        <p:nvSpPr>
          <p:cNvPr id="11" name="Footnote Left"/>
          <p:cNvSpPr/>
          <p:nvPr/>
        </p:nvSpPr>
        <p:spPr>
          <a:xfrm>
            <a:off x="411480" y="6400000"/>
            <a:ext cx="57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B0C4D0"/>
                </a:solidFill>
                <a:hlinkClick r:id="rId3"/>
              </a:rPr>
              <a:t>[</a:t>
            </a:r>
            <a:r>
              <a:rPr lang="en-US" sz="900">
                <a:solidFill>
                  <a:srgbClr val="B0C4D0"/>
                </a:solidFill>
              </a:rPr>
              <a:t>1</a:t>
            </a:r>
            <a:r>
              <a:rPr lang="en-US" sz="900">
                <a:solidFill>
                  <a:srgbClr val="B0C4D0"/>
                </a:solidFill>
                <a:hlinkClick r:id="rId3"/>
              </a:rPr>
              <a:t>]</a:t>
            </a:r>
            <a:r>
              <a:rPr lang="en-US" sz="900">
                <a:solidFill>
                  <a:srgbClr val="B0C4D0"/>
                </a:solidFill>
              </a:rPr>
              <a:t> Triple-I auto stats</a:t>
            </a:r>
            <a:endParaRPr lang="en-US" sz="900"/>
          </a:p>
        </p:txBody>
      </p:sp>
      <p:sp>
        <p:nvSpPr>
          <p:cNvPr id="12" name="Footnote Right"/>
          <p:cNvSpPr/>
          <p:nvPr/>
        </p:nvSpPr>
        <p:spPr>
          <a:xfrm>
            <a:off x="6200000" y="6400000"/>
            <a:ext cx="55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B0C4D0"/>
                </a:solidFill>
                <a:hlinkClick r:id="rId4"/>
              </a:rPr>
              <a:t>[2]</a:t>
            </a:r>
            <a:r>
              <a:rPr lang="en-US" sz="900">
                <a:solidFill>
                  <a:srgbClr val="B0C4D0"/>
                </a:solidFill>
              </a:rPr>
              <a:t> BLS CPI release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B0C4D0"/>
                </a:solidFill>
                <a:hlinkClick r:id="rId5"/>
              </a:rPr>
              <a:t>[3]</a:t>
            </a:r>
            <a:r>
              <a:rPr lang="en-US" sz="900">
                <a:solidFill>
                  <a:srgbClr val="B0C4D0"/>
                </a:solidFill>
              </a:rPr>
              <a:t> NOAA NCEI disasters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Personal Lines Carrier Process Flow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6E4EA"/>
                </a:solidFill>
              </a:rPr>
              <a:t>Personal Auto Claims During Catastrophe Surge | Where the accelerator resolves stage-specific challenges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1208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1. FNOL Intake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539496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630936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Thousands of mixed-format submissions create queue bottlenecks.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539496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30936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Auto-ingest and classify emails, photos, and forms into claim families.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63824" y="3304680"/>
            <a:ext cx="146304" cy="237744"/>
          </a:xfrm>
          <a:prstGeom prst="chevron">
            <a:avLst/>
          </a:prstGeom>
          <a:solidFill>
            <a:srgbClr val="2EC4B6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64992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64992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14720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2. Coverage Triage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3493008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84448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3584448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Incomplete documentation delays early decisions.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493008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84448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3584448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Completeness scoring and missing-document alerts at first touch.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6117336" y="3304680"/>
            <a:ext cx="146304" cy="237744"/>
          </a:xfrm>
          <a:prstGeom prst="chevron">
            <a:avLst/>
          </a:prstGeom>
          <a:solidFill>
            <a:srgbClr val="2EC4B6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18504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18504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68232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3. Assessment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6446520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37960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6537960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Adjusters rebuild chronology manually.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6446520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37960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6537960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Prebuilt evidence timeline and anomaly highlights.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9070848" y="3304680"/>
            <a:ext cx="146304" cy="237744"/>
          </a:xfrm>
          <a:prstGeom prst="chevron">
            <a:avLst/>
          </a:prstGeom>
          <a:solidFill>
            <a:srgbClr val="2EC4B6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272016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272016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821744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4. Settlement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9400032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491472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9491472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Inconsistent communication drives repeat calls.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9400032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491472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9491472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Unified interaction timeline and action prompts for next best step.</a:t>
            </a:r>
            <a:endParaRPr lang="en-US" sz="1000"/>
          </a:p>
        </p:txBody>
      </p:sp>
      <p:sp>
        <p:nvSpPr>
          <p:cNvPr id="44" name="Shape 42"/>
          <p:cNvSpPr/>
          <p:nvPr/>
        </p:nvSpPr>
        <p:spPr>
          <a:xfrm>
            <a:off x="411480" y="5923560"/>
            <a:ext cx="11365992" cy="713232"/>
          </a:xfrm>
          <a:prstGeom prst="roundRect">
            <a:avLst>
              <a:gd name="adj" fmla="val 5128"/>
            </a:avLst>
          </a:prstGeom>
          <a:solidFill>
            <a:srgbClr val="1A2332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6928" y="6106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ECF0"/>
                </a:solidFill>
              </a:rPr>
              <a:t>Expected business outcomes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2468880" y="60150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ECF0"/>
                </a:solidFill>
              </a:rPr>
              <a:t>- Backlog growth contained during surge periods</a:t>
            </a:r>
            <a:endParaRPr lang="en-US" sz="1000" dirty="0"/>
          </a:p>
          <a:p>
            <a:pPr marL="0" indent="0">
              <a:buNone/>
            </a:pPr>
            <a:r>
              <a:rPr lang="en-US" sz="1000">
                <a:solidFill>
                  <a:srgbClr val="E8ECF0"/>
                </a:solidFill>
              </a:rPr>
              <a:t>- Faster first meaningful contact with policyholders</a:t>
            </a:r>
            <a:endParaRPr lang="en-US" sz="1000" dirty="0"/>
          </a:p>
          <a:p>
            <a:pPr marL="0" indent="0">
              <a:buNone/>
            </a:pPr>
            <a:r>
              <a:rPr lang="en-US" sz="1000">
                <a:solidFill>
                  <a:srgbClr val="E8ECF0"/>
                </a:solidFill>
              </a:rPr>
              <a:t>- Higher consistency in adjuster decisions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AAFA5"/>
                </a:solidFill>
              </a:rPr>
              <a:t>- Enterprise security in place: Entra ID authentication, least-privilege governance</a:t>
            </a:r>
            <a:endParaRPr lang="en-US" sz="1000" dirty="0"/>
          </a:p>
        </p:txBody>
      </p:sp>
      <p:pic>
        <p:nvPicPr>
          <p:cNvPr id="47" name="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6152"/>
            <a:ext cx="384048" cy="384048"/>
          </a:xfrm>
          <a:prstGeom prst="rect">
            <a:avLst/>
          </a:prstGeom>
        </p:spPr>
      </p:pic>
      <p:pic>
        <p:nvPicPr>
          <p:cNvPr id="48" name="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216152"/>
            <a:ext cx="384048" cy="384048"/>
          </a:xfrm>
          <a:prstGeom prst="rect">
            <a:avLst/>
          </a:prstGeom>
        </p:spPr>
      </p:pic>
      <p:pic>
        <p:nvPicPr>
          <p:cNvPr id="49" name="Ic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216152"/>
            <a:ext cx="384048" cy="384048"/>
          </a:xfrm>
          <a:prstGeom prst="rect">
            <a:avLst/>
          </a:prstGeom>
        </p:spPr>
      </p:pic>
      <p:pic>
        <p:nvPicPr>
          <p:cNvPr id="50" name="Ico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121615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Commercial Lines Carrier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Middle-Market Package Policy Renewal and Premium Audit | Challenge-first process transformation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00" cy="4100000"/>
          </a:xfrm>
          <a:prstGeom prst="roundRect">
            <a:avLst>
              <a:gd name="adj" fmla="val 2381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EC4B6"/>
                </a:solidFill>
              </a:rPr>
              <a:t>Selected Business Scenario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</a:rPr>
              <a:t>Middle-Market Package Policy Renewal and Premium Audit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76F51"/>
                </a:solidFill>
              </a:rPr>
              <a:t>Why this scenario has high urgency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Brokered submissions and audit evidence are document-heavy, and margin pressure makes leakage control essential.</a:t>
            </a:r>
          </a:p>
          <a:p>
            <a:pPr marL="0" indent="0">
              <a:buNone/>
            </a:pPr>
            <a:endParaRPr lang="en-US" sz="600"/>
          </a:p>
          <a:p>
            <a:pPr marL="228600" indent="-228600">
              <a:buChar char="•"/>
            </a:pPr>
            <a:r>
              <a:rPr lang="en-US" sz="1200" b="1">
                <a:solidFill>
                  <a:srgbClr val="FFFFFF"/>
                </a:solidFill>
              </a:rPr>
              <a:t>P&amp;C net premiums written hit $935B in 2024, up from $863B in 2023</a:t>
            </a:r>
            <a:r>
              <a:rPr lang="en-US" sz="1200">
                <a:solidFill>
                  <a:srgbClr val="2EC4B6"/>
                </a:solidFill>
              </a:rPr>
              <a:t> — Triple-I</a:t>
            </a:r>
            <a:r>
              <a:rPr lang="en-US" sz="1200" baseline="30000">
                <a:solidFill>
                  <a:srgbClr val="2EC4B6"/>
                </a:solidFill>
              </a:rPr>
              <a:t>[1]</a:t>
            </a:r>
          </a:p>
          <a:p>
            <a:pPr marL="228600" indent="-228600">
              <a:buChar char="•"/>
            </a:pPr>
            <a:r>
              <a:rPr lang="en-US" sz="1200" b="1">
                <a:solidFill>
                  <a:srgbClr val="FFFFFF"/>
                </a:solidFill>
              </a:rPr>
              <a:t>Industry rate levels increased 35% from Jan 2022 to end of 2024</a:t>
            </a:r>
            <a:r>
              <a:rPr lang="en-US" sz="1200">
                <a:solidFill>
                  <a:srgbClr val="2EC4B6"/>
                </a:solidFill>
              </a:rPr>
              <a:t> — Triple-I</a:t>
            </a:r>
            <a:r>
              <a:rPr lang="en-US" sz="1200" baseline="30000">
                <a:solidFill>
                  <a:srgbClr val="2EC4B6"/>
                </a:solidFill>
              </a:rPr>
              <a:t>[1]</a:t>
            </a:r>
          </a:p>
        </p:txBody>
      </p:sp>
      <p:sp>
        <p:nvSpPr>
          <p:cNvPr id="11" name="Footnote Left"/>
          <p:cNvSpPr/>
          <p:nvPr/>
        </p:nvSpPr>
        <p:spPr>
          <a:xfrm>
            <a:off x="411480" y="6400000"/>
            <a:ext cx="57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B0C4D0"/>
                </a:solidFill>
                <a:hlinkClick r:id="rId3"/>
              </a:rPr>
              <a:t>[1]</a:t>
            </a:r>
            <a:r>
              <a:rPr lang="en-US" sz="900">
                <a:solidFill>
                  <a:srgbClr val="B0C4D0"/>
                </a:solidFill>
              </a:rPr>
              <a:t> Triple-I industry overview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Commercial Lines Carrier Process Flow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6E4EA"/>
                </a:solidFill>
              </a:rPr>
              <a:t>Middle-Market Package Policy Renewal and Premium Audit | Where the accelerator resolves stage-specific challenges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1208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1. Submission Intake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539496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630936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ACORD packages arrive with uneven quality.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539496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30936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Extract payroll, class code, fleet, and loss history into structured risk view.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163824" y="3304680"/>
            <a:ext cx="146304" cy="237744"/>
          </a:xfrm>
          <a:prstGeom prst="chevron">
            <a:avLst/>
          </a:prstGeom>
          <a:solidFill>
            <a:srgbClr val="2EC4B6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64992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64992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14720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2. Underwriting Review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3493008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84448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3584448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Missing controls trigger rework and referrals.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493008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84448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3584448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Risk completeness and control-gap flags before underwriter review.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6117336" y="3304680"/>
            <a:ext cx="146304" cy="237744"/>
          </a:xfrm>
          <a:prstGeom prst="chevron">
            <a:avLst/>
          </a:prstGeom>
          <a:solidFill>
            <a:srgbClr val="2EC4B6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18504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18504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68232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3. Premium Audit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6446520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37960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6537960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Declared vs observed exposure mismatches are found late.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6446520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37960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6537960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Automated discrepancy detection and exception queue generation.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9070848" y="3304680"/>
            <a:ext cx="146304" cy="237744"/>
          </a:xfrm>
          <a:prstGeom prst="chevron">
            <a:avLst/>
          </a:prstGeom>
          <a:solidFill>
            <a:srgbClr val="2EC4B6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272016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272016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821744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4. Renewal Decision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9400032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491472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9491472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Loss trends are hard to aggregate quickly.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9400032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491472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9491472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Precomputed trend summary with linked evidence for decision committee.</a:t>
            </a:r>
            <a:endParaRPr lang="en-US" sz="1000"/>
          </a:p>
        </p:txBody>
      </p:sp>
      <p:sp>
        <p:nvSpPr>
          <p:cNvPr id="44" name="Shape 42"/>
          <p:cNvSpPr/>
          <p:nvPr/>
        </p:nvSpPr>
        <p:spPr>
          <a:xfrm>
            <a:off x="411480" y="5923560"/>
            <a:ext cx="11365992" cy="713232"/>
          </a:xfrm>
          <a:prstGeom prst="roundRect">
            <a:avLst>
              <a:gd name="adj" fmla="val 5128"/>
            </a:avLst>
          </a:prstGeom>
          <a:solidFill>
            <a:srgbClr val="1A2332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6928" y="6106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ECF0"/>
                </a:solidFill>
              </a:rPr>
              <a:t>Expected business outcomes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2468880" y="60150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ECF0"/>
                </a:solidFill>
              </a:rPr>
              <a:t>- Shorter submission-to-quote cycle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8ECF0"/>
                </a:solidFill>
              </a:rPr>
              <a:t>- Reduced premium leakage risk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8ECF0"/>
                </a:solidFill>
              </a:rPr>
              <a:t>- Improved renewal decision confidence</a:t>
            </a:r>
          </a:p>
          <a:p>
            <a:pPr marL="0" indent="0">
              <a:buNone/>
            </a:pPr>
            <a:r>
              <a:rPr lang="en-US" sz="1000">
                <a:solidFill>
                  <a:srgbClr val="5AAFA5"/>
                </a:solidFill>
              </a:rPr>
              <a:t>- Enterprise security in place: Entra ID authentication, least-privilege governance</a:t>
            </a:r>
            <a:endParaRPr lang="en-US" sz="1000"/>
          </a:p>
        </p:txBody>
      </p:sp>
      <p:pic>
        <p:nvPicPr>
          <p:cNvPr id="47" name="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6152"/>
            <a:ext cx="384048" cy="384048"/>
          </a:xfrm>
          <a:prstGeom prst="rect">
            <a:avLst/>
          </a:prstGeom>
        </p:spPr>
      </p:pic>
      <p:pic>
        <p:nvPicPr>
          <p:cNvPr id="48" name="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216152"/>
            <a:ext cx="384048" cy="384048"/>
          </a:xfrm>
          <a:prstGeom prst="rect">
            <a:avLst/>
          </a:prstGeom>
        </p:spPr>
      </p:pic>
      <p:pic>
        <p:nvPicPr>
          <p:cNvPr id="49" name="Ic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216152"/>
            <a:ext cx="384048" cy="384048"/>
          </a:xfrm>
          <a:prstGeom prst="rect">
            <a:avLst/>
          </a:prstGeom>
        </p:spPr>
      </p:pic>
      <p:pic>
        <p:nvPicPr>
          <p:cNvPr id="50" name="Ico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121615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Specialty / E&amp;S Carrier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High-Hazard Liability Risk Selection and Referral Governance | Challenge-first process transformation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00" cy="4100000"/>
          </a:xfrm>
          <a:prstGeom prst="roundRect">
            <a:avLst>
              <a:gd name="adj" fmla="val 2381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EC4B6"/>
                </a:solidFill>
              </a:rPr>
              <a:t>Selected Business Scenario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</a:rPr>
              <a:t>High-Hazard Liability Risk Selection and Referral Governance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76F51"/>
                </a:solidFill>
              </a:rPr>
              <a:t>Why this scenario has high urgency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Non-standard risks are narrative-heavy and require rapid but defensible referral decisions.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-228600"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P&amp;C combined ratio swung from 101.8% to 96.6% in one year</a:t>
            </a:r>
            <a:r>
              <a:rPr lang="en-US" sz="1200" dirty="0">
                <a:solidFill>
                  <a:srgbClr val="2EC4B6"/>
                </a:solidFill>
              </a:rPr>
              <a:t> — Triple-I</a:t>
            </a:r>
            <a:r>
              <a:rPr lang="en-US" sz="1200" baseline="30000" dirty="0">
                <a:solidFill>
                  <a:srgbClr val="2EC4B6"/>
                </a:solidFill>
              </a:rPr>
              <a:t>[1]</a:t>
            </a:r>
          </a:p>
          <a:p>
            <a:pPr marL="228600" indent="-228600"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Billion-dollar disaster avg: 23/year over last 5 years vs. 9/year historical</a:t>
            </a:r>
            <a:r>
              <a:rPr lang="en-US" sz="1200" dirty="0">
                <a:solidFill>
                  <a:srgbClr val="2EC4B6"/>
                </a:solidFill>
              </a:rPr>
              <a:t> — NOAA</a:t>
            </a:r>
            <a:r>
              <a:rPr lang="en-US" sz="1200" baseline="30000" dirty="0">
                <a:solidFill>
                  <a:srgbClr val="2EC4B6"/>
                </a:solidFill>
              </a:rPr>
              <a:t>[2]</a:t>
            </a:r>
          </a:p>
        </p:txBody>
      </p:sp>
      <p:sp>
        <p:nvSpPr>
          <p:cNvPr id="11" name="Footnote Left"/>
          <p:cNvSpPr/>
          <p:nvPr/>
        </p:nvSpPr>
        <p:spPr>
          <a:xfrm>
            <a:off x="411480" y="6400000"/>
            <a:ext cx="57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B0C4D0"/>
                </a:solidFill>
                <a:hlinkClick r:id="rId3"/>
              </a:rPr>
              <a:t>[1]</a:t>
            </a:r>
            <a:r>
              <a:rPr lang="en-US" sz="900">
                <a:solidFill>
                  <a:srgbClr val="B0C4D0"/>
                </a:solidFill>
              </a:rPr>
              <a:t> Triple-I industry overview</a:t>
            </a:r>
            <a:endParaRPr lang="en-US" sz="900"/>
          </a:p>
        </p:txBody>
      </p:sp>
      <p:sp>
        <p:nvSpPr>
          <p:cNvPr id="12" name="Footnote Right"/>
          <p:cNvSpPr/>
          <p:nvPr/>
        </p:nvSpPr>
        <p:spPr>
          <a:xfrm>
            <a:off x="6200000" y="6400000"/>
            <a:ext cx="55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B0C4D0"/>
                </a:solidFill>
                <a:hlinkClick r:id="rId4"/>
              </a:rPr>
              <a:t>[</a:t>
            </a:r>
            <a:r>
              <a:rPr lang="en-US" sz="900">
                <a:solidFill>
                  <a:srgbClr val="B0C4D0"/>
                </a:solidFill>
              </a:rPr>
              <a:t>2</a:t>
            </a:r>
            <a:r>
              <a:rPr lang="en-US" sz="900">
                <a:solidFill>
                  <a:srgbClr val="B0C4D0"/>
                </a:solidFill>
                <a:hlinkClick r:id="rId4"/>
              </a:rPr>
              <a:t>]</a:t>
            </a:r>
            <a:r>
              <a:rPr lang="en-US" sz="900">
                <a:solidFill>
                  <a:srgbClr val="B0C4D0"/>
                </a:solidFill>
              </a:rPr>
              <a:t> NOAA NCEI disasters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Specialty / E&amp;S Carrier Process Flow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6E4EA"/>
                </a:solidFill>
              </a:rPr>
              <a:t>High-Hazard Liability Risk Selection and Referral Governance | Where the accelerator resolves stage-specific challenges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1208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1. Broker Submission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539496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630936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Inconsistent narrative packets hide key hazards.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539496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30936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Normalize varied documents into consistent hazard/control profiles.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163824" y="3304680"/>
            <a:ext cx="146304" cy="237744"/>
          </a:xfrm>
          <a:prstGeom prst="chevron">
            <a:avLst/>
          </a:prstGeom>
          <a:solidFill>
            <a:srgbClr val="2EC4B6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64992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64992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14720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2. Referral Decision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3493008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84448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3584448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Evidence gathering slows authority escalation.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493008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84448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3584448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Auto-generated referral pack with rationale and source links.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6117336" y="3304680"/>
            <a:ext cx="146304" cy="237744"/>
          </a:xfrm>
          <a:prstGeom prst="chevron">
            <a:avLst/>
          </a:prstGeom>
          <a:solidFill>
            <a:srgbClr val="2EC4B6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18504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18504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68232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3. Policy Structuring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6446520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37960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6537960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Exclusions and conditions can be misapplied under time pressure.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6446520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37960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6537960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Policy condition checkpoints and missing-artifact prompts.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9070848" y="3304680"/>
            <a:ext cx="146304" cy="237744"/>
          </a:xfrm>
          <a:prstGeom prst="chevron">
            <a:avLst/>
          </a:prstGeom>
          <a:solidFill>
            <a:srgbClr val="2EC4B6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272016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272016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821744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4. Portfolio Monitoring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9400032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491472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9491472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Concentration drift appears late.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9400032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491472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9491472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Segment drift indicators from extracted risk signals.</a:t>
            </a:r>
            <a:endParaRPr lang="en-US" sz="1000"/>
          </a:p>
        </p:txBody>
      </p:sp>
      <p:sp>
        <p:nvSpPr>
          <p:cNvPr id="44" name="Shape 42"/>
          <p:cNvSpPr/>
          <p:nvPr/>
        </p:nvSpPr>
        <p:spPr>
          <a:xfrm>
            <a:off x="411480" y="5923560"/>
            <a:ext cx="11365992" cy="713232"/>
          </a:xfrm>
          <a:prstGeom prst="roundRect">
            <a:avLst>
              <a:gd name="adj" fmla="val 5128"/>
            </a:avLst>
          </a:prstGeom>
          <a:solidFill>
            <a:srgbClr val="1A2332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6928" y="6106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ECF0"/>
                </a:solidFill>
              </a:rPr>
              <a:t>Expected business outcomes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2468880" y="60150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ECF0"/>
                </a:solidFill>
              </a:rPr>
              <a:t>- Faster specialty decision turnarounds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8ECF0"/>
                </a:solidFill>
              </a:rPr>
              <a:t>- Higher consistency across underwriting pods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8ECF0"/>
                </a:solidFill>
              </a:rPr>
              <a:t>- Earlier concentration risk detection</a:t>
            </a:r>
          </a:p>
          <a:p>
            <a:pPr marL="0" indent="0">
              <a:buNone/>
            </a:pPr>
            <a:r>
              <a:rPr lang="en-US" sz="1000">
                <a:solidFill>
                  <a:srgbClr val="5AAFA5"/>
                </a:solidFill>
              </a:rPr>
              <a:t>- Enterprise security in place: Entra ID authentication, least-privilege governance</a:t>
            </a:r>
            <a:endParaRPr lang="en-US" sz="1000"/>
          </a:p>
        </p:txBody>
      </p:sp>
      <p:pic>
        <p:nvPicPr>
          <p:cNvPr id="47" name="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6152"/>
            <a:ext cx="384048" cy="384048"/>
          </a:xfrm>
          <a:prstGeom prst="rect">
            <a:avLst/>
          </a:prstGeom>
        </p:spPr>
      </p:pic>
      <p:pic>
        <p:nvPicPr>
          <p:cNvPr id="48" name="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216152"/>
            <a:ext cx="384048" cy="384048"/>
          </a:xfrm>
          <a:prstGeom prst="rect">
            <a:avLst/>
          </a:prstGeom>
        </p:spPr>
      </p:pic>
      <p:pic>
        <p:nvPicPr>
          <p:cNvPr id="49" name="Ic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216152"/>
            <a:ext cx="384048" cy="384048"/>
          </a:xfrm>
          <a:prstGeom prst="rect">
            <a:avLst/>
          </a:prstGeom>
        </p:spPr>
      </p:pic>
      <p:pic>
        <p:nvPicPr>
          <p:cNvPr id="50" name="Ico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121615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Reinsurer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</a:rPr>
              <a:t>Treaty Bordereaux and Cat Event Aggregation | Challenge-first process transformation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00" cy="4100000"/>
          </a:xfrm>
          <a:prstGeom prst="roundRect">
            <a:avLst>
              <a:gd name="adj" fmla="val 2381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EC4B6"/>
                </a:solidFill>
              </a:rPr>
              <a:t>Selected Business Scenario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</a:rPr>
              <a:t>Treaty Bordereaux and Cat Event Aggregation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76F51"/>
                </a:solidFill>
              </a:rPr>
              <a:t>Why this scenario has high urgency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Ceded data inconsistency and event-driven volatility challenge reserve confidence and reporting speed.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-228600"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$1.05T in direct written premium; $117B ceded to reinsurers in 2024</a:t>
            </a:r>
            <a:r>
              <a:rPr lang="en-US" sz="1200" dirty="0">
                <a:solidFill>
                  <a:srgbClr val="2EC4B6"/>
                </a:solidFill>
              </a:rPr>
              <a:t> — Triple-I</a:t>
            </a:r>
            <a:r>
              <a:rPr lang="en-US" sz="1200" baseline="30000" dirty="0">
                <a:solidFill>
                  <a:srgbClr val="2EC4B6"/>
                </a:solidFill>
              </a:rPr>
              <a:t>[1]</a:t>
            </a:r>
          </a:p>
          <a:p>
            <a:pPr marL="228600" indent="-228600"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Cumulative $2.9T in billion-dollar disaster losses since 1980</a:t>
            </a:r>
            <a:r>
              <a:rPr lang="en-US" sz="1200" dirty="0">
                <a:solidFill>
                  <a:srgbClr val="2EC4B6"/>
                </a:solidFill>
              </a:rPr>
              <a:t> — NOAA</a:t>
            </a:r>
            <a:r>
              <a:rPr lang="en-US" sz="1200" baseline="30000" dirty="0">
                <a:solidFill>
                  <a:srgbClr val="2EC4B6"/>
                </a:solidFill>
              </a:rPr>
              <a:t>[2]</a:t>
            </a:r>
          </a:p>
        </p:txBody>
      </p:sp>
      <p:sp>
        <p:nvSpPr>
          <p:cNvPr id="11" name="Footnote Left"/>
          <p:cNvSpPr/>
          <p:nvPr/>
        </p:nvSpPr>
        <p:spPr>
          <a:xfrm>
            <a:off x="411480" y="6400000"/>
            <a:ext cx="57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B0C4D0"/>
                </a:solidFill>
                <a:hlinkClick r:id="rId3"/>
              </a:rPr>
              <a:t>[1]</a:t>
            </a:r>
            <a:r>
              <a:rPr lang="en-US" sz="900">
                <a:solidFill>
                  <a:srgbClr val="B0C4D0"/>
                </a:solidFill>
              </a:rPr>
              <a:t> Triple-I industry overview</a:t>
            </a:r>
            <a:endParaRPr lang="en-US" sz="900"/>
          </a:p>
        </p:txBody>
      </p:sp>
      <p:sp>
        <p:nvSpPr>
          <p:cNvPr id="12" name="Footnote Right"/>
          <p:cNvSpPr/>
          <p:nvPr/>
        </p:nvSpPr>
        <p:spPr>
          <a:xfrm>
            <a:off x="6200000" y="6400000"/>
            <a:ext cx="55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B0C4D0"/>
                </a:solidFill>
                <a:hlinkClick r:id="rId4"/>
              </a:rPr>
              <a:t>[</a:t>
            </a:r>
            <a:r>
              <a:rPr lang="en-US" sz="900">
                <a:solidFill>
                  <a:srgbClr val="B0C4D0"/>
                </a:solidFill>
              </a:rPr>
              <a:t>2</a:t>
            </a:r>
            <a:r>
              <a:rPr lang="en-US" sz="900">
                <a:solidFill>
                  <a:srgbClr val="B0C4D0"/>
                </a:solidFill>
                <a:hlinkClick r:id="rId4"/>
              </a:rPr>
              <a:t>]</a:t>
            </a:r>
            <a:r>
              <a:rPr lang="en-US" sz="900">
                <a:solidFill>
                  <a:srgbClr val="B0C4D0"/>
                </a:solidFill>
              </a:rPr>
              <a:t> NOAA NCEI disasters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Reinsurer Process Flow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6E4EA"/>
                </a:solidFill>
              </a:rPr>
              <a:t>Treaty Bordereaux and Cat Event Aggregation | Where the accelerator resolves stage-specific challenges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1208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1. Cedant Intake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539496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630936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Ceded claims arrive in heterogeneous formats.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539496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30936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Normalize cedant documents into treaty-ready structured fields.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163824" y="3304680"/>
            <a:ext cx="146304" cy="237744"/>
          </a:xfrm>
          <a:prstGeom prst="chevron">
            <a:avLst/>
          </a:prstGeom>
          <a:solidFill>
            <a:srgbClr val="2EC4B6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64992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64992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14720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2. Data Validation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3493008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84448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3584448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Out-of-tolerance bordereaux entries require manual checks.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493008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84448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3584448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Rule-based exception detection with source traceability.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6117336" y="3304680"/>
            <a:ext cx="146304" cy="237744"/>
          </a:xfrm>
          <a:prstGeom prst="chevron">
            <a:avLst/>
          </a:prstGeom>
          <a:solidFill>
            <a:srgbClr val="2EC4B6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18504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18504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68232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3. Event Aggregation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6446520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37960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6537960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Cat losses are hard to roll up quickly across cedants.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6446520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37960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6537960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Event/peril clustering and timeline-driven exposure rollups.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9070848" y="3304680"/>
            <a:ext cx="146304" cy="237744"/>
          </a:xfrm>
          <a:prstGeom prst="chevron">
            <a:avLst/>
          </a:prstGeom>
          <a:solidFill>
            <a:srgbClr val="2EC4B6"/>
          </a:solidFill>
          <a:ln w="63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272016" y="1143000"/>
            <a:ext cx="2697480" cy="4597680"/>
          </a:xfrm>
          <a:prstGeom prst="roundRect">
            <a:avLst>
              <a:gd name="adj" fmla="val 2034"/>
            </a:avLst>
          </a:prstGeom>
          <a:solidFill>
            <a:srgbClr val="151D28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272016" y="1143000"/>
            <a:ext cx="2697480" cy="530352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821744" y="1271016"/>
            <a:ext cx="203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ECF0"/>
                </a:solidFill>
              </a:rPr>
              <a:t>4. Reserve &amp; Reporting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9400032" y="1837944"/>
            <a:ext cx="2441448" cy="1444752"/>
          </a:xfrm>
          <a:prstGeom prst="roundRect">
            <a:avLst>
              <a:gd name="adj" fmla="val 2532"/>
            </a:avLst>
          </a:prstGeom>
          <a:solidFill>
            <a:srgbClr val="2D1A16"/>
          </a:solidFill>
          <a:ln w="12700">
            <a:solidFill>
              <a:srgbClr val="5A3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491472" y="196596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76F51"/>
                </a:solidFill>
              </a:rPr>
              <a:t>Business challenge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9491472" y="2167128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4A088"/>
                </a:solidFill>
              </a:rPr>
              <a:t>Governance needs auditable source lineage.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9400032" y="3483864"/>
            <a:ext cx="2441448" cy="2174520"/>
          </a:xfrm>
          <a:prstGeom prst="roundRect">
            <a:avLst>
              <a:gd name="adj" fmla="val 1951"/>
            </a:avLst>
          </a:prstGeom>
          <a:solidFill>
            <a:srgbClr val="162D28"/>
          </a:solidFill>
          <a:ln w="12700">
            <a:solidFill>
              <a:srgbClr val="1E5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491472" y="361188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4B6"/>
                </a:solidFill>
              </a:rPr>
              <a:t>Accelerator intervention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9491472" y="3813048"/>
            <a:ext cx="2258568" cy="17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CCFC5"/>
                </a:solidFill>
              </a:rPr>
              <a:t>Source-to-summary evidence packs for actuarial and finance review.</a:t>
            </a:r>
            <a:endParaRPr lang="en-US" sz="1000"/>
          </a:p>
        </p:txBody>
      </p:sp>
      <p:sp>
        <p:nvSpPr>
          <p:cNvPr id="44" name="Shape 42"/>
          <p:cNvSpPr/>
          <p:nvPr/>
        </p:nvSpPr>
        <p:spPr>
          <a:xfrm>
            <a:off x="411480" y="5923560"/>
            <a:ext cx="11365992" cy="713232"/>
          </a:xfrm>
          <a:prstGeom prst="roundRect">
            <a:avLst>
              <a:gd name="adj" fmla="val 5128"/>
            </a:avLst>
          </a:prstGeom>
          <a:solidFill>
            <a:srgbClr val="1A2332"/>
          </a:solidFill>
          <a:ln w="127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6928" y="6106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ECF0"/>
                </a:solidFill>
              </a:rPr>
              <a:t>Expected business outcomes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2468880" y="60150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8ECF0"/>
                </a:solidFill>
              </a:rPr>
              <a:t>- Faster monthly/quarterly bordereaux cycles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8ECF0"/>
                </a:solidFill>
              </a:rPr>
              <a:t>- Improved ceded data confidence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8ECF0"/>
                </a:solidFill>
              </a:rPr>
              <a:t>- Lower reconciliation friction</a:t>
            </a:r>
          </a:p>
          <a:p>
            <a:pPr marL="0" indent="0">
              <a:buNone/>
            </a:pPr>
            <a:r>
              <a:rPr lang="en-US" sz="1000">
                <a:solidFill>
                  <a:srgbClr val="5AAFA5"/>
                </a:solidFill>
              </a:rPr>
              <a:t>- Enterprise security in place: Entra ID authentication, least-privilege governance</a:t>
            </a:r>
            <a:endParaRPr lang="en-US" sz="1000"/>
          </a:p>
        </p:txBody>
      </p:sp>
      <p:pic>
        <p:nvPicPr>
          <p:cNvPr id="47" name="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6152"/>
            <a:ext cx="384048" cy="384048"/>
          </a:xfrm>
          <a:prstGeom prst="rect">
            <a:avLst/>
          </a:prstGeom>
        </p:spPr>
      </p:pic>
      <p:pic>
        <p:nvPicPr>
          <p:cNvPr id="48" name="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216152"/>
            <a:ext cx="384048" cy="384048"/>
          </a:xfrm>
          <a:prstGeom prst="rect">
            <a:avLst/>
          </a:prstGeom>
        </p:spPr>
      </p:pic>
      <p:pic>
        <p:nvPicPr>
          <p:cNvPr id="49" name="Ic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216152"/>
            <a:ext cx="384048" cy="384048"/>
          </a:xfrm>
          <a:prstGeom prst="rect">
            <a:avLst/>
          </a:prstGeom>
        </p:spPr>
      </p:pic>
      <p:pic>
        <p:nvPicPr>
          <p:cNvPr id="50" name="Ico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121615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1071</Words>
  <Application>Microsoft Office PowerPoint</Application>
  <PresentationFormat>Widescreen</PresentationFormat>
  <Paragraphs>175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Extract-Insight-Action - Carrier Process Playbook</dc:title>
  <dc:subject>Carrier process flows with challenge points and accelerator interventions</dc:subject>
  <dc:creator>GitHub Copilot</dc:creator>
  <cp:lastModifiedBy>Tirthankar Barari (TR)</cp:lastModifiedBy>
  <cp:revision>1</cp:revision>
  <dcterms:created xsi:type="dcterms:W3CDTF">2026-06-08T19:00:55Z</dcterms:created>
  <dcterms:modified xsi:type="dcterms:W3CDTF">2026-06-08T22:05:11Z</dcterms:modified>
</cp:coreProperties>
</file>